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75" r:id="rId8"/>
    <p:sldId id="278" r:id="rId9"/>
    <p:sldId id="279" r:id="rId10"/>
    <p:sldId id="263" r:id="rId11"/>
    <p:sldId id="273" r:id="rId12"/>
    <p:sldId id="264" r:id="rId13"/>
    <p:sldId id="265" r:id="rId14"/>
    <p:sldId id="274" r:id="rId15"/>
    <p:sldId id="276" r:id="rId16"/>
    <p:sldId id="277" r:id="rId17"/>
    <p:sldId id="272" r:id="rId18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0E0A9-DAAE-4A55-B10F-26048980FD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B5436-1535-416B-A07A-0512ADB7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37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B5436-1535-416B-A07A-0512ADB793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6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10A412F-136A-45A9-AA54-6BE307CE210B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B8F3E12-F7FD-48C6-9F6A-0BDE69A8505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E66DD1-905E-4BFF-ADDD-E8A8D738729E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195641-EC27-4531-8043-EFD4DD7CD117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VIOLENCE DETECTION AND ALERTING MANAGEMENT SYSTEM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462240" y="3975840"/>
            <a:ext cx="3578760" cy="166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endParaRPr lang="en-US" sz="2400" b="0" strike="noStrike" spc="-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RAJENDRAPRASATH M</a:t>
            </a:r>
            <a:endParaRPr lang="en-US" sz="2400" b="0" strike="noStrike" spc="-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810022104104</a:t>
            </a:r>
            <a:endParaRPr lang="en-US" sz="2400" b="0" strike="noStrike" spc="-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8033040" y="3975840"/>
            <a:ext cx="250704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b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b="0" strike="noStrike" spc="-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339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safety is a major concern in urban and industrial environments.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surveillance cameras: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time-consuming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Prone to human error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Delays emergency response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AI-based violence detection system that: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analyzes video footage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violent activities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real-time alerts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 dashboard and analytics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946235" y="1796063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surveillance systems face several limitations: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 heavily on continuous human monitoring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automated violence detection capabilities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provide real-time alert mechanisms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to maintain centralized incident reporting and 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scale efficiently for large surveillance networks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violent incidents may go unnoticed or response may be delayed.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601" y="394537"/>
            <a:ext cx="3746089" cy="82466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62116" y="1582995"/>
            <a:ext cx="11513573" cy="480797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Vision Transformer–based AI model to classify violent and non-violent activities from video frames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 multi-camera web-based monitoring dashboard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real-time alert notifications upon detection of violent incidents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and store historical incident data for analysis and reporting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Salesforce platform for centralized dashboard, reporting, and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72726" y="116199"/>
            <a:ext cx="506619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US" sz="36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sz="40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61DE4F-A237-B616-222F-0D5CE6D62A6B}"/>
              </a:ext>
            </a:extLst>
          </p:cNvPr>
          <p:cNvSpPr txBox="1"/>
          <p:nvPr/>
        </p:nvSpPr>
        <p:spPr>
          <a:xfrm>
            <a:off x="314632" y="1243354"/>
            <a:ext cx="1160464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systems (VD-Net, 2024):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ST-TCN and bottleneck layers for real-time IoT surveillance; performance drops in crowded scenes.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models (2025):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architectures like VGG16 and MobileNetV2 for violence classification; high accuracy but computationally expensive.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CNN models (2023):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spatio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-temporal video features; require large datasets and long training time.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Emotion-based tools (WHOT, 2021):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facial expression analysis for behavioral profiling; not suitable for real-time video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A093-5857-ECF7-CE32-1A6A02975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34" y="0"/>
            <a:ext cx="5798394" cy="88365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3110E6-97FC-AE8E-F37A-1038AB1F7B00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2051024463"/>
              </p:ext>
            </p:extLst>
          </p:nvPr>
        </p:nvGraphicFramePr>
        <p:xfrm>
          <a:off x="285134" y="959267"/>
          <a:ext cx="11467362" cy="5611990"/>
        </p:xfrm>
        <a:graphic>
          <a:graphicData uri="http://schemas.openxmlformats.org/drawingml/2006/table">
            <a:tbl>
              <a:tblPr/>
              <a:tblGrid>
                <a:gridCol w="619434">
                  <a:extLst>
                    <a:ext uri="{9D8B030D-6E8A-4147-A177-3AD203B41FA5}">
                      <a16:colId xmlns:a16="http://schemas.microsoft.com/office/drawing/2014/main" val="838660098"/>
                    </a:ext>
                  </a:extLst>
                </a:gridCol>
                <a:gridCol w="3203020">
                  <a:extLst>
                    <a:ext uri="{9D8B030D-6E8A-4147-A177-3AD203B41FA5}">
                      <a16:colId xmlns:a16="http://schemas.microsoft.com/office/drawing/2014/main" val="1615230120"/>
                    </a:ext>
                  </a:extLst>
                </a:gridCol>
                <a:gridCol w="1821264">
                  <a:extLst>
                    <a:ext uri="{9D8B030D-6E8A-4147-A177-3AD203B41FA5}">
                      <a16:colId xmlns:a16="http://schemas.microsoft.com/office/drawing/2014/main" val="3103938198"/>
                    </a:ext>
                  </a:extLst>
                </a:gridCol>
                <a:gridCol w="2001190">
                  <a:extLst>
                    <a:ext uri="{9D8B030D-6E8A-4147-A177-3AD203B41FA5}">
                      <a16:colId xmlns:a16="http://schemas.microsoft.com/office/drawing/2014/main" val="4180072954"/>
                    </a:ext>
                  </a:extLst>
                </a:gridCol>
                <a:gridCol w="1911227">
                  <a:extLst>
                    <a:ext uri="{9D8B030D-6E8A-4147-A177-3AD203B41FA5}">
                      <a16:colId xmlns:a16="http://schemas.microsoft.com/office/drawing/2014/main" val="1696147643"/>
                    </a:ext>
                  </a:extLst>
                </a:gridCol>
                <a:gridCol w="1911227">
                  <a:extLst>
                    <a:ext uri="{9D8B030D-6E8A-4147-A177-3AD203B41FA5}">
                      <a16:colId xmlns:a16="http://schemas.microsoft.com/office/drawing/2014/main" val="3090533813"/>
                    </a:ext>
                  </a:extLst>
                </a:gridCol>
              </a:tblGrid>
              <a:tr h="373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Year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/ Results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937218"/>
                  </a:ext>
                </a:extLst>
              </a:tr>
              <a:tr h="1332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VD-Net: An Edge Vision-Based Surveillance System for Violence Detection (2024)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ST-TCN (Temporal CNN), Bottleneck layers, Edge + Cloud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Surveillance datasets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1–4% improvement over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SoTA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IoT infrastructure, real-time deployment complexity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579666"/>
                  </a:ext>
                </a:extLst>
              </a:tr>
              <a:tr h="117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Detection of Violence From Video (2025)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VGG16, MobileNetV2, YOLOv6, Ensemble Model, Vision Transformer (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Violence Dataset, Road-Anomaly Dataset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 achieved 99% accuracy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 for Transformer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356615"/>
                  </a:ext>
                </a:extLst>
              </a:tr>
              <a:tr h="852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Toward Fast and Accurate Violence Detection (2023)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CNN, Pre-trained action recognition models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7 public datasets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~2% improvement over SoTA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dataset requirement, high training time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924240"/>
                  </a:ext>
                </a:extLst>
              </a:tr>
              <a:tr h="1012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WHOT: A Novel Tool to Assist Women Victims of Violence (2021)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Facial Expression Recognition + Digital Questionnaires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study (50 women)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inference &amp; behavioral profiling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real-time video violence detection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021572"/>
                  </a:ext>
                </a:extLst>
              </a:tr>
              <a:tr h="692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VD-Net (PDF.jsPaper1 – 2024)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ST-TCN, IIoT based system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Surveillance &amp; Non-surveillance datasets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SoTA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accuracy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lighting &amp; crowd complexity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336028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53253C-8426-D10C-5942-241833F0FA71}"/>
              </a:ext>
            </a:extLst>
          </p:cNvPr>
          <p:cNvCxnSpPr>
            <a:cxnSpLocks/>
          </p:cNvCxnSpPr>
          <p:nvPr/>
        </p:nvCxnSpPr>
        <p:spPr>
          <a:xfrm flipH="1">
            <a:off x="717755" y="963561"/>
            <a:ext cx="117987" cy="5397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31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A0CA33-7D18-EB3E-1B39-F2BD1AE32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543" y="528320"/>
            <a:ext cx="8865691" cy="6187440"/>
          </a:xfrm>
          <a:prstGeom prst="rect">
            <a:avLst/>
          </a:prstGeom>
        </p:spPr>
      </p:pic>
      <p:sp>
        <p:nvSpPr>
          <p:cNvPr id="17" name="PlaceHolder 1">
            <a:extLst>
              <a:ext uri="{FF2B5EF4-FFF2-40B4-BE49-F238E27FC236}">
                <a16:creationId xmlns:a16="http://schemas.microsoft.com/office/drawing/2014/main" id="{285D434C-B16E-0D6E-249B-A5F334233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365040"/>
            <a:ext cx="45313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</p:spTree>
    <p:extLst>
      <p:ext uri="{BB962C8B-B14F-4D97-AF65-F5344CB8AC3E}">
        <p14:creationId xmlns:p14="http://schemas.microsoft.com/office/powerpoint/2010/main" val="922906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2D502-A317-E662-318C-A4FD60A5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32" y="227188"/>
            <a:ext cx="10209484" cy="783120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1(Data Collection and Preparation):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20B702-9091-97B0-9E26-AE5C8BBE9FE9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41465" y="988229"/>
            <a:ext cx="9279314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real-world violence and non-violence video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datasets,RWF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 videos (frame extraction, resizing, normalization)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 data into: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Violence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Non-Violence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 dataset into training, validation, and testing sets	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11AE97-40FD-2535-DFAC-E667E5C2F05B}"/>
              </a:ext>
            </a:extLst>
          </p:cNvPr>
          <p:cNvSpPr txBox="1">
            <a:spLocks/>
          </p:cNvSpPr>
          <p:nvPr/>
        </p:nvSpPr>
        <p:spPr>
          <a:xfrm>
            <a:off x="311032" y="3192449"/>
            <a:ext cx="11320529" cy="5549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2(Model Selection ,Training and Testing):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C46B19-6109-C3C7-8319-0DD9E20267CB}"/>
              </a:ext>
            </a:extLst>
          </p:cNvPr>
          <p:cNvSpPr txBox="1"/>
          <p:nvPr/>
        </p:nvSpPr>
        <p:spPr>
          <a:xfrm>
            <a:off x="941465" y="3830045"/>
            <a:ext cx="1054018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deep learning architecture (Vision Transformer / Hybrid Model)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feature extraction from video frames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model using labeled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using: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(Accuracy, Precision, Recall, F1-score)</a:t>
            </a:r>
          </a:p>
        </p:txBody>
      </p:sp>
    </p:spTree>
    <p:extLst>
      <p:ext uri="{BB962C8B-B14F-4D97-AF65-F5344CB8AC3E}">
        <p14:creationId xmlns:p14="http://schemas.microsoft.com/office/powerpoint/2010/main" val="1099053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36334" y="158562"/>
            <a:ext cx="6951046" cy="64768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C3FA27-A1BE-78C8-7470-496821184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206" y="806245"/>
            <a:ext cx="10116033" cy="58931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3900E-D9E1-E65E-F7FF-4CCDEB2FA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5308248" cy="132516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D964-5DEB-406E-FF2F-C0A34C90FFE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297479" y="3429000"/>
            <a:ext cx="3930959" cy="1381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extraction from videos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to 224 × 224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1C1BC-CC31-610D-A691-5B0779D0EFA8}"/>
              </a:ext>
            </a:extLst>
          </p:cNvPr>
          <p:cNvSpPr txBox="1"/>
          <p:nvPr/>
        </p:nvSpPr>
        <p:spPr>
          <a:xfrm>
            <a:off x="533281" y="3358907"/>
            <a:ext cx="62637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Type: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Video-based violence classification dataset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Violence / Non-Violence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77EB4-1332-C528-90FF-1E9EC37A3FE1}"/>
              </a:ext>
            </a:extLst>
          </p:cNvPr>
          <p:cNvSpPr txBox="1"/>
          <p:nvPr/>
        </p:nvSpPr>
        <p:spPr>
          <a:xfrm>
            <a:off x="5527040" y="1714160"/>
            <a:ext cx="65125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Publicly available violence detection datasets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Life Violence Data 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D59032-C937-9C18-FEA4-F2EAEFCDD3E0}"/>
              </a:ext>
            </a:extLst>
          </p:cNvPr>
          <p:cNvSpPr txBox="1"/>
          <p:nvPr/>
        </p:nvSpPr>
        <p:spPr>
          <a:xfrm>
            <a:off x="533281" y="1690200"/>
            <a:ext cx="4688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Composition: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Videos: 2000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Violence Videos: 1000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Non-Violence Videos: 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3BFA8-0B7F-DB85-2198-AD7BBA2C6090}"/>
              </a:ext>
            </a:extLst>
          </p:cNvPr>
          <p:cNvSpPr txBox="1"/>
          <p:nvPr/>
        </p:nvSpPr>
        <p:spPr>
          <a:xfrm>
            <a:off x="3992881" y="5083030"/>
            <a:ext cx="47142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Set: 70%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Set: 15%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Set: 15%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812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14690" y="138607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6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DETAILS</a:t>
            </a: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314690" y="1434210"/>
            <a:ext cx="5656129" cy="164427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Pre-trained model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for binary classification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(Violence / Non-Violence)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A716D0-3C0F-FB4D-A8B0-5655E3660B1E}"/>
              </a:ext>
            </a:extLst>
          </p:cNvPr>
          <p:cNvSpPr txBox="1"/>
          <p:nvPr/>
        </p:nvSpPr>
        <p:spPr>
          <a:xfrm>
            <a:off x="6140243" y="1434210"/>
            <a:ext cx="56561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Specifications: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size: 224 × 224 RGB images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 size: 16 × 16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divided into fixed-size patches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Positional embeddings added to patch embeddings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AF186-56FE-A18A-F7F3-B75F8C0E9D02}"/>
              </a:ext>
            </a:extLst>
          </p:cNvPr>
          <p:cNvSpPr txBox="1"/>
          <p:nvPr/>
        </p:nvSpPr>
        <p:spPr>
          <a:xfrm>
            <a:off x="314690" y="3255855"/>
            <a:ext cx="53880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Binary Cross-Entropy Loss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</a:t>
            </a:r>
            <a:r>
              <a:rPr lang="en-US" sz="2000" dirty="0"/>
              <a:t>0.0001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16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Epochs:10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AB155-D79D-90AE-E7E8-3A0D0804197B}"/>
              </a:ext>
            </a:extLst>
          </p:cNvPr>
          <p:cNvSpPr txBox="1"/>
          <p:nvPr/>
        </p:nvSpPr>
        <p:spPr>
          <a:xfrm>
            <a:off x="6367676" y="3563632"/>
            <a:ext cx="53880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score for Violence / Non-Violence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classification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13616" y="149678"/>
            <a:ext cx="7273533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Aptos Display"/>
              </a:rPr>
              <a:t>SOFTWARE REQUIREMENTS</a:t>
            </a:r>
            <a:endParaRPr lang="en-US" sz="4400" b="0" strike="noStrike" spc="-1" dirty="0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D4D5F-4377-2B24-0FBE-D25986A4B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091380"/>
            <a:ext cx="10167784" cy="57666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EEAB7B-7F98-FD73-10D6-23DD6CC8456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0487" y="705465"/>
            <a:ext cx="10743840" cy="57906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228545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C89A9-FFB6-0C1F-2F8C-F97E1C17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90" y="265769"/>
            <a:ext cx="3773249" cy="1325160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3EDF0-927A-B87E-EB9B-186AB72B781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19039" y="1718748"/>
            <a:ext cx="11772961" cy="417871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Mustaqeem Khan,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Abdulmotaleb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 Saddik, Wail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Gueaieb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Giulia De Masi, Fakhri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“VD-Net: An Edge Vision-Based Surveillance System for Violence Detection”,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 Vol. 12, pp. 43796–43810, 2024.</a:t>
            </a:r>
          </a:p>
          <a:p>
            <a:pPr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Animela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Niharika,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Konapalaneer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Phani,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“Advanced Detection of Violence From Video Using Deep Learning Models”,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 Vol. 13, 2025.</a:t>
            </a:r>
          </a:p>
          <a:p>
            <a:pPr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Quigfeng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Runnan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“Toward Fast and Accurate Violence Detection for Automated Video Surveillance Applications”,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 Vol. 11, 2023.</a:t>
            </a:r>
          </a:p>
          <a:p>
            <a:pPr>
              <a:lnSpc>
                <a:spcPct val="17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643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3621-E4BF-23EB-EB1E-EAC6B06D6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412" y="532188"/>
            <a:ext cx="10515240" cy="13251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D08F1-840F-F1F0-1F5A-162C58E6CD2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83458" y="1974852"/>
            <a:ext cx="11611897" cy="43509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Saulo W. D. S. Costa, Yomara Pinheiro Pires, Ailton Lopes de Sousa, Fernando A. R. Costa,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Euzébio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Oliveira, Fabiola Pantoja Araújo, Marcos Cesar da Rocha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Seruffo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“WHOT, a Novel Tool to Assist Women Victims of Violence: A Case Study in the Brazilian Amazon”,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 Vol. 9, pp. 95046–95057, 2021.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Mustaqeem Khan et al.,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“Intelligent Edge-Cloud Based Surveillance Framework for Real-Time Violence Detection”,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 Vol. 12, 2024.</a:t>
            </a:r>
          </a:p>
          <a:p>
            <a:pPr>
              <a:lnSpc>
                <a:spcPct val="150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45771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/>
          </p:nvPr>
        </p:nvSpPr>
        <p:spPr>
          <a:xfrm>
            <a:off x="3205316" y="2551198"/>
            <a:ext cx="5781367" cy="17556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72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72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</TotalTime>
  <Words>960</Words>
  <Application>Microsoft Office PowerPoint</Application>
  <PresentationFormat>Widescreen</PresentationFormat>
  <Paragraphs>147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AI-BASED VIOLENCE DETECTION AND ALERTING MANAGEMENT SYSTEM</vt:lpstr>
      <vt:lpstr>INTRODUCTION</vt:lpstr>
      <vt:lpstr>PROBLEM STATEMENT</vt:lpstr>
      <vt:lpstr>OBJECTIVES</vt:lpstr>
      <vt:lpstr>EXISTING WORK</vt:lpstr>
      <vt:lpstr>LITERATURE SURVEY</vt:lpstr>
      <vt:lpstr>SYSTEM WORKFLOW</vt:lpstr>
      <vt:lpstr>Module 1(Data Collection and Preparation):</vt:lpstr>
      <vt:lpstr>SYSTEM ARCHITECTURE</vt:lpstr>
      <vt:lpstr>DATASET DETAILS</vt:lpstr>
      <vt:lpstr>MODEL DETAILS</vt:lpstr>
      <vt:lpstr>SOFTWARE REQUIREMENTS</vt:lpstr>
      <vt:lpstr>PowerPoint Presentation</vt:lpstr>
      <vt:lpstr>REFERENCE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RAJENDRAPRASATH M</dc:creator>
  <dc:description/>
  <cp:lastModifiedBy>RAJENDRAPRASATH M</cp:lastModifiedBy>
  <cp:revision>17</cp:revision>
  <dcterms:created xsi:type="dcterms:W3CDTF">2026-02-15T10:24:00Z</dcterms:created>
  <dcterms:modified xsi:type="dcterms:W3CDTF">2026-02-23T12:41:31Z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17</vt:i4>
  </property>
</Properties>
</file>